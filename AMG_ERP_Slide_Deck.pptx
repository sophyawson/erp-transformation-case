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880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023360"/>
            <a:ext cx="6583680" cy="658368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937760"/>
            <a:ext cx="6583680" cy="658368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-2560320"/>
            <a:ext cx="3840480" cy="3840480"/>
          </a:xfrm>
          <a:prstGeom prst="ellipse">
            <a:avLst/>
          </a:prstGeom>
          <a:solidFill>
            <a:srgbClr val="2C3E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0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TRANSFORMATION PROGRAM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Replacing AMG's Legacy ERP: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12-Month Roadmap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 continuity, sequenced for risk, and built to close AMG's margin-visibility gap.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34924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F0791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349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AMG Executive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1188720"/>
            <a:ext cx="2926080" cy="2926080"/>
          </a:xfrm>
          <a:prstGeom prst="ellipse">
            <a:avLst/>
          </a:prstGeom>
          <a:solidFill>
            <a:srgbClr val="F5F6F9"/>
          </a:solidFill>
          <a:ln/>
        </p:spPr>
      </p:sp>
      <p:sp>
        <p:nvSpPr>
          <p:cNvPr id="3" name="Shape 1"/>
          <p:cNvSpPr/>
          <p:nvPr/>
        </p:nvSpPr>
        <p:spPr>
          <a:xfrm>
            <a:off x="11932920" y="-502920"/>
            <a:ext cx="1463040" cy="14630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691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Overall Approach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1214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phasing, top risks and how we control scope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548640" cy="5486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Scope &amp; Sequencing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3558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on Day 1 and what's deliberately deferred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160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&amp; Reporting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5902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 KPI visibility and close continuity through the transition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ERP Transformation Program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023360"/>
            <a:ext cx="6583680" cy="658368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937760"/>
            <a:ext cx="6583680" cy="658368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-2560320"/>
            <a:ext cx="3840480" cy="3840480"/>
          </a:xfrm>
          <a:prstGeom prst="ellipse">
            <a:avLst/>
          </a:prstGeom>
          <a:solidFill>
            <a:srgbClr val="2C3E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This Program Matters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AMG's current landscape is fragmented, and it's costing margin.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2C3E6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79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 orders saw margin erosion last year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219456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2C3E63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3774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79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20+ yrs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703320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legacy ERP running Finance, MRP, Procurement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2C3E6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3774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79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00800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locations across the US &amp; Canada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2194560"/>
            <a:ext cx="2514600" cy="2194560"/>
          </a:xfrm>
          <a:prstGeom prst="roundRect">
            <a:avLst>
              <a:gd name="adj" fmla="val 4167"/>
            </a:avLst>
          </a:prstGeom>
          <a:solidFill>
            <a:srgbClr val="2C3E63"/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23774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079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098280" y="3246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order-level contribution margin view today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ERP Transformation Program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1188720"/>
            <a:ext cx="2926080" cy="2926080"/>
          </a:xfrm>
          <a:prstGeom prst="ellipse">
            <a:avLst/>
          </a:prstGeom>
          <a:solidFill>
            <a:srgbClr val="F5F6F9"/>
          </a:solidFill>
          <a:ln/>
        </p:spPr>
      </p:sp>
      <p:sp>
        <p:nvSpPr>
          <p:cNvPr id="3" name="Shape 1"/>
          <p:cNvSpPr/>
          <p:nvPr/>
        </p:nvSpPr>
        <p:spPr>
          <a:xfrm>
            <a:off x="11932920" y="-502920"/>
            <a:ext cx="1463040" cy="14630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5F6F9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011680"/>
            <a:ext cx="502920" cy="5029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Unify the Landscape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47472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Finance, Procurement, Manufacturing, and Engineering onto a single source of truth. no more manual syncs or silos.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5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2011680"/>
            <a:ext cx="502920" cy="5029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Fix BOM Accuracy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54880" y="347472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reliable Engineering BOM → Manufacturing BOM handoff for both ETO and aftermarket.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5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549640" y="2011680"/>
            <a:ext cx="502920" cy="5029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9640" y="2743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Restore Margin Visibility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9640" y="347472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direct outcome of the first two objectives — true labor, material, and overhead visibility per order.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ERP Transformation Program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1188720"/>
            <a:ext cx="2926080" cy="2926080"/>
          </a:xfrm>
          <a:prstGeom prst="ellipse">
            <a:avLst/>
          </a:prstGeom>
          <a:solidFill>
            <a:srgbClr val="F5F6F9"/>
          </a:solidFill>
          <a:ln/>
        </p:spPr>
      </p:sp>
      <p:sp>
        <p:nvSpPr>
          <p:cNvPr id="3" name="Shape 1"/>
          <p:cNvSpPr/>
          <p:nvPr/>
        </p:nvSpPr>
        <p:spPr>
          <a:xfrm>
            <a:off x="11932920" y="-502920"/>
            <a:ext cx="1463040" cy="14630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Phasing Approach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by business complexity — not a single big-bang cutover.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05840" y="3246120"/>
            <a:ext cx="10149840" cy="0"/>
          </a:xfrm>
          <a:prstGeom prst="line">
            <a:avLst/>
          </a:prstGeom>
          <a:noFill/>
          <a:ln w="25400">
            <a:solidFill>
              <a:srgbClr val="D7DC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3063240"/>
            <a:ext cx="365760" cy="365760"/>
          </a:xfrm>
          <a:prstGeom prst="ellipse">
            <a:avLst/>
          </a:prstGeom>
          <a:solidFill>
            <a:srgbClr val="F0791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Phase 1 – Foundation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5F6F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3192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Procurement, and Aftermarket parts/service go live first — standardized, lower-risk processes that prove the platform.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60720" y="3063240"/>
            <a:ext cx="365760" cy="365760"/>
          </a:xfrm>
          <a:prstGeom prst="ellipse">
            <a:avLst/>
          </a:prstGeom>
          <a:solidFill>
            <a:srgbClr val="F0791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 (PARALLEL)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43400" y="2011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BOM Stabilization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343400" y="37490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5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93192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fragile Engineering-BOM sync is fixed independently, so margin erosion is addressed from day one.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464040" y="3063240"/>
            <a:ext cx="365760" cy="365760"/>
          </a:xfrm>
          <a:prstGeom prst="ellipse">
            <a:avLst/>
          </a:prstGeom>
          <a:solidFill>
            <a:srgbClr val="F0791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0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2011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Phase 2 – Core Operations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046720" y="374904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5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393192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Manufacturing/MRP and full Engineering-BOM integration go live for the ETO business, once the platform is proven.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ERP Transformation Program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1188720"/>
            <a:ext cx="2926080" cy="2926080"/>
          </a:xfrm>
          <a:prstGeom prst="ellipse">
            <a:avLst/>
          </a:prstGeom>
          <a:solidFill>
            <a:srgbClr val="F5F6F9"/>
          </a:solidFill>
          <a:ln/>
        </p:spPr>
      </p:sp>
      <p:sp>
        <p:nvSpPr>
          <p:cNvPr id="3" name="Shape 1"/>
          <p:cNvSpPr/>
          <p:nvPr/>
        </p:nvSpPr>
        <p:spPr>
          <a:xfrm>
            <a:off x="11932920" y="-502920"/>
            <a:ext cx="1463040" cy="14630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Top Risks &amp; Mitigations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5F6F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00200"/>
            <a:ext cx="320040" cy="3200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BOM / Data Migration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2560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cleanse active BOMs first; archive the rest read-only.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37160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5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600200"/>
            <a:ext cx="320040" cy="3200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057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Scope Creep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Standard-first build; customize only for ETO/BOM advantage.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5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1600200"/>
            <a:ext cx="320040" cy="3200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2057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User Adoption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75320" y="2560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power-user involvement; phase-aligned training.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487168" y="397764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5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2715768" y="4206240"/>
            <a:ext cx="320040" cy="3200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22" name="Text 20"/>
          <p:cNvSpPr/>
          <p:nvPr/>
        </p:nvSpPr>
        <p:spPr>
          <a:xfrm>
            <a:off x="2715768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15768" y="4663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Multi-Entity Complexity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715768" y="51663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consolidation into Phase 1 foundation work.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90488" y="397764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5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419088" y="4206240"/>
            <a:ext cx="320040" cy="3200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19088" y="4663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Cutover Disruption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19088" y="51663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Low-volume cutover window, read-only fallback, dress-rehearsal test, extra support.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ERP Transformation Program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023360"/>
            <a:ext cx="6583680" cy="658368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937760"/>
            <a:ext cx="6583680" cy="658368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-2560320"/>
            <a:ext cx="3840480" cy="3840480"/>
          </a:xfrm>
          <a:prstGeom prst="ellipse">
            <a:avLst/>
          </a:prstGeom>
          <a:solidFill>
            <a:srgbClr val="2C3E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Scope Control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mechanisms keep the 12-month timeline intact.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2C3E63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286000"/>
            <a:ext cx="502920" cy="73152"/>
          </a:xfrm>
          <a:prstGeom prst="roundRect">
            <a:avLst/>
          </a:prstGeom>
          <a:solidFill>
            <a:srgbClr val="F0791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51460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Locked Baseline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3291840"/>
            <a:ext cx="2880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Team signs off on defined must-haves per phase before build begins. Anything else defers by default.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19659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2C3E63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2286000"/>
            <a:ext cx="502920" cy="73152"/>
          </a:xfrm>
          <a:prstGeom prst="roundRect">
            <a:avLst/>
          </a:prstGeom>
          <a:solidFill>
            <a:srgbClr val="F0791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51460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Standard-First Rule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37760" y="3291840"/>
            <a:ext cx="2880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ERP functionality is used wherever possible. Customization is approved only for ETO/BOM handling.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0" y="19659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2C3E63"/>
          </a:solidFill>
          <a:ln/>
        </p:spPr>
      </p:sp>
      <p:sp>
        <p:nvSpPr>
          <p:cNvPr id="16" name="Shape 14"/>
          <p:cNvSpPr/>
          <p:nvPr/>
        </p:nvSpPr>
        <p:spPr>
          <a:xfrm>
            <a:off x="8732520" y="2286000"/>
            <a:ext cx="502920" cy="73152"/>
          </a:xfrm>
          <a:prstGeom prst="roundRect">
            <a:avLst/>
          </a:prstGeom>
          <a:solidFill>
            <a:srgbClr val="F0791B"/>
          </a:solidFill>
          <a:ln/>
        </p:spPr>
      </p:sp>
      <p:sp>
        <p:nvSpPr>
          <p:cNvPr id="17" name="Text 15"/>
          <p:cNvSpPr/>
          <p:nvPr/>
        </p:nvSpPr>
        <p:spPr>
          <a:xfrm>
            <a:off x="8732520" y="251460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Change-Control Governance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32520" y="3291840"/>
            <a:ext cx="2880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scope requests go through a governance board and require an explicit trade-off — no addition without a cut or delay.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ERP Transformation Program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1188720"/>
            <a:ext cx="2926080" cy="2926080"/>
          </a:xfrm>
          <a:prstGeom prst="ellipse">
            <a:avLst/>
          </a:prstGeom>
          <a:solidFill>
            <a:srgbClr val="F5F6F9"/>
          </a:solidFill>
          <a:ln/>
        </p:spPr>
      </p:sp>
      <p:sp>
        <p:nvSpPr>
          <p:cNvPr id="3" name="Shape 1"/>
          <p:cNvSpPr/>
          <p:nvPr/>
        </p:nvSpPr>
        <p:spPr>
          <a:xfrm>
            <a:off x="11932920" y="-502920"/>
            <a:ext cx="1463040" cy="14630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Day-1 Must-Haves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scope: Finance, Procurement, Aftermarket — the minimum order-to-cash chain.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5F6F9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196596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Order entry and tracking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5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703320"/>
            <a:ext cx="502920" cy="5029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38328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Inventory visibility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5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120640"/>
            <a:ext cx="502920" cy="5029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80060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Invoicing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19659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5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2286000"/>
            <a:ext cx="502920" cy="5029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86600" y="196596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Payment / AR tracking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26480" y="33832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5F6F9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3703320"/>
            <a:ext cx="502920" cy="5029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86600" y="338328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Procurement &amp; purchase orders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126480" y="48006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F5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5120640"/>
            <a:ext cx="502920" cy="5029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5120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086600" y="480060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Labor cost feed from HRIS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ERP Transformation Program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1188720"/>
            <a:ext cx="2926080" cy="2926080"/>
          </a:xfrm>
          <a:prstGeom prst="ellipse">
            <a:avLst/>
          </a:prstGeom>
          <a:solidFill>
            <a:srgbClr val="F5F6F9"/>
          </a:solidFill>
          <a:ln/>
        </p:spPr>
      </p:sp>
      <p:sp>
        <p:nvSpPr>
          <p:cNvPr id="3" name="Shape 1"/>
          <p:cNvSpPr/>
          <p:nvPr/>
        </p:nvSpPr>
        <p:spPr>
          <a:xfrm>
            <a:off x="11932920" y="-502920"/>
            <a:ext cx="1463040" cy="14630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Migration Exclusions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20+ years of legacy data needs to move on Day 1.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0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TO THE NEW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 transactions active at go-live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Last 1–2 years of transaction history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4069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Clean, validated master data (customers, vendors, active BOMs)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F5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ARCHIVE (READ-ONLY)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Closed orders / work orders older than 1–2 years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329184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Financial detail beyond standard reporting needs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406908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Inactive customer/vendor records &amp; superseded BOM revisions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ERP Transformation Program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023360"/>
            <a:ext cx="6583680" cy="658368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937760"/>
            <a:ext cx="6583680" cy="658368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-2560320"/>
            <a:ext cx="3840480" cy="3840480"/>
          </a:xfrm>
          <a:prstGeom prst="ellipse">
            <a:avLst/>
          </a:prstGeom>
          <a:solidFill>
            <a:srgbClr val="2C3E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Customization Discipline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7955280" cy="3566160"/>
          </a:xfrm>
          <a:prstGeom prst="roundRect">
            <a:avLst>
              <a:gd name="adj" fmla="val 2564"/>
            </a:avLst>
          </a:prstGeom>
          <a:solidFill>
            <a:srgbClr val="2C3E63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5740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AMG follows a standard-first principle: the new ERP's built-in functionality is used as-is wherever possible.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7223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is approved only where it protects a genuine competitive advantage — specifically AMG's engineer-to-order and BOM processes. Everywhere else, the business adapts to the standard system rather than rebuilding it around legacy habits.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ERP Transformation Program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1188720"/>
            <a:ext cx="2926080" cy="2926080"/>
          </a:xfrm>
          <a:prstGeom prst="ellipse">
            <a:avLst/>
          </a:prstGeom>
          <a:solidFill>
            <a:srgbClr val="F5F6F9"/>
          </a:solidFill>
          <a:ln/>
        </p:spPr>
      </p:sp>
      <p:sp>
        <p:nvSpPr>
          <p:cNvPr id="3" name="Shape 1"/>
          <p:cNvSpPr/>
          <p:nvPr/>
        </p:nvSpPr>
        <p:spPr>
          <a:xfrm>
            <a:off x="11932920" y="-502920"/>
            <a:ext cx="1463040" cy="146304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and Reporting Continuity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5F6F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536192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Historical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36192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history (1–2 yrs) migrates; older records stay in the legacy ERP, read-only and fully searchable on request.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5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520440"/>
            <a:ext cx="502920" cy="5029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227832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Reporting During Transition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227832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stay separate — no fragile live sync. Each produces its own report; both combine into one leadership KPI dashboard.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5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212080"/>
            <a:ext cx="502920" cy="5029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919472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Month-End Close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4919472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never pauses. Each phase runs a parallel close test before Finance relies on the new system alone.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ERP Transformation Program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023360"/>
            <a:ext cx="6583680" cy="658368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937760"/>
            <a:ext cx="6583680" cy="658368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-2560320"/>
            <a:ext cx="3840480" cy="3840480"/>
          </a:xfrm>
          <a:prstGeom prst="ellipse">
            <a:avLst/>
          </a:prstGeom>
          <a:solidFill>
            <a:srgbClr val="2C3E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274320" cy="2743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76148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phasing sequence and Day-1 scope baseline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274320" cy="2743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4015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parallel BOM-stabilization workstream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274320" cy="274320"/>
          </a:xfrm>
          <a:prstGeom prst="ellipse">
            <a:avLst/>
          </a:prstGeom>
          <a:solidFill>
            <a:srgbClr val="F0791B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04164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governance board for change-control decisions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ERP Transformation Program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793</Words>
  <Application>Microsoft Office PowerPoint</Application>
  <PresentationFormat>Widescreen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AMG ERP Replacement Program</dc:title>
  <dc:subject>PptxGenJS Presentation</dc:subject>
  <dc:creator>bsnyawson@st.ug.edu.gh</dc:creator>
  <cp:lastModifiedBy>Yawson Beatrice Sophia  Nhyira</cp:lastModifiedBy>
  <cp:revision>5</cp:revision>
  <dcterms:created xsi:type="dcterms:W3CDTF">2026-07-19T03:36:01Z</dcterms:created>
  <dcterms:modified xsi:type="dcterms:W3CDTF">2026-07-20T08:07:29Z</dcterms:modified>
</cp:coreProperties>
</file>